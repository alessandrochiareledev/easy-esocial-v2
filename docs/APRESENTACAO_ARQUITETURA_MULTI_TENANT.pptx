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1280160"/>
            <a:ext cx="1280160" cy="1280160"/>
          </a:xfrm>
          <a:prstGeom prst="ellipse">
            <a:avLst/>
          </a:prstGeom>
          <a:solidFill>
            <a:srgbClr val="0B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4ADE80"/>
                </a:solidFill>
                <a:latin typeface="Segoe UI"/>
              </a:rPr>
              <a:t>EASY-ESOCIAL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1F5F9"/>
                </a:solidFill>
                <a:latin typeface="Segoe UI"/>
              </a:rPr>
              <a:t>Arquitetura Multi-Tenant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Como nosso sistema atende várias empresas com</a:t>
            </a:r>
          </a:p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um backend, dois Supabase e schemas isolados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2606040" cy="411480"/>
          </a:xfrm>
          <a:prstGeom prst="roundRect">
            <a:avLst/>
          </a:prstGeom>
          <a:solidFill>
            <a:srgbClr val="132A4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606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Segoe UI"/>
              </a:rPr>
              <a:t>2 empresas hoje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5120640"/>
            <a:ext cx="1920240" cy="411480"/>
          </a:xfrm>
          <a:prstGeom prst="roundRect">
            <a:avLst/>
          </a:prstGeom>
          <a:solidFill>
            <a:srgbClr val="132A4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5120640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Segoe UI"/>
              </a:rPr>
              <a:t>2 Supabase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5120640"/>
            <a:ext cx="2880360" cy="411480"/>
          </a:xfrm>
          <a:prstGeom prst="roundRect">
            <a:avLst/>
          </a:prstGeom>
          <a:solidFill>
            <a:srgbClr val="132A4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512064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Segoe UI"/>
              </a:rPr>
              <a:t>Schema-per-tenant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5120640"/>
            <a:ext cx="3154680" cy="411480"/>
          </a:xfrm>
          <a:prstGeom prst="roundRect">
            <a:avLst/>
          </a:prstGeom>
          <a:solidFill>
            <a:srgbClr val="132A4E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5120640"/>
            <a:ext cx="3154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Segoe UI"/>
              </a:rPr>
              <a:t>Pronto para escalar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Apresentação técnica  •  Maio/2026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O que vamos cobrir nessa apresentação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7276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Panorama atual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8366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Quantas empresas, quantos bancos, status de hoje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12848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31136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Modelo multi-tenant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Schema-per-empresa vs. DB-per-empresa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871216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89504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Os dois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Sistema DB e Dados DB — o que cada um faz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529584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54787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Backend em 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5876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Como uma request resolve a empresa correta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187952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062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17136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Como uma empresa nova entra no sistema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6460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Escalabilidade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75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E se chegarem 10 empresas amanhã?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504688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0468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A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522976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Roadmap &amp;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83387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O que falta automatizar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Panorama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Estado de produção em 11/05/2026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606040" cy="21945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606040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4ADE80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Segoe UI"/>
              </a:rPr>
              <a:t>EMPRESAS 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APPA + SOLUCOES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606040" cy="21945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645920"/>
            <a:ext cx="260604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1E3A8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1752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Segoe UI"/>
              </a:rPr>
              <a:t>PROJETOS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Sistema +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606040" cy="21945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260604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97316"/>
                </a:solidFill>
                <a:latin typeface="Segoe UI"/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Segoe UI"/>
              </a:rPr>
              <a:t>TABELAS POR EMPRESA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Schema completo eSocial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645920"/>
            <a:ext cx="2606040" cy="21945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645920"/>
            <a:ext cx="260604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9202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22C55E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01752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Segoe UI"/>
              </a:rPr>
              <a:t>BACKEND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3832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Multi-tenant nativo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Segoe UI"/>
              </a:rPr>
              <a:t>EMPRESAS EM PRODUÇÃO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572000"/>
            <a:ext cx="10972800" cy="68580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7200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Segoe UI"/>
              </a:rPr>
              <a:t>APPA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7200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05969071000110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57200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schema: appa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72000"/>
            <a:ext cx="16459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v1.1.0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572000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Segoe UI"/>
              </a:rPr>
              <a:t>376k eventos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49240"/>
            <a:ext cx="10972800" cy="68580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4924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Segoe UI"/>
              </a:rPr>
              <a:t>SOLUCOES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34924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09445502000109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5349240"/>
            <a:ext cx="2286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schema: solucoes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349240"/>
            <a:ext cx="16459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v1.1.0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349240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Segoe UI"/>
              </a:rPr>
              <a:t>schema novo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Modelo: schema por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Não é 1 banco por empresa — é 1 schema PostgreSQL por empresa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❌ NÃO USAMOS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Um banco Postgres por empresa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4144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Custo: 1 projeto Supabase / empresa (US$ 25+/mês cada)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8529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Operação: 1 pool de conexões para cada uma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Migrations: rodar N vezes em N bancos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6758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Backup: cresce linearmente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✅ ADOTAMOS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Segoe UI"/>
              </a:rPr>
              <a:t>Um schema PostgreSQL por empresa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44144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1 só projeto Supabase para todos os tenants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85292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Pool único de conexões — eficiente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26440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154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Migrations: 1 SQL aplicado N vezes via runner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67588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5661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Isolamento por search_path + checagem no backend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08736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977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Suporta dezenas de empresas sem mudar infra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0640"/>
            <a:ext cx="10972800" cy="109728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Segoe UI"/>
              </a:rPr>
              <a:t>💡 ANALOGIA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Pense num condomínio: 1 prédio (banco), N apartamentos (schemas). Cada</a:t>
            </a:r>
          </a:p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empresa tem chave que abre só o seu apartamento — search_path é a chave.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Os dois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Sistema DB (auth/routing) e Dados DB (schemas das empresas)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457200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Segoe UI"/>
              </a:rPr>
              <a:t>🔐  SISTEMA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onsolas"/>
              </a:rPr>
              <a:t>db.kjbgiwnlvqnrfdozjvhq.supabase.co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Auth + Routing + Auditoria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4846320" cy="502920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8036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Credenciais bcrypt +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74720"/>
            <a:ext cx="4846320" cy="502920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empresas_routing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7472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CNPJ → schema_name (registry)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69080"/>
            <a:ext cx="4846320" cy="502920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user_empresas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6908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N:N usuário ↔ empresa + papel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63440"/>
            <a:ext cx="4846320" cy="502920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audit_log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66344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Log append-only de ações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257800"/>
            <a:ext cx="4846320" cy="502920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schema_meta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25780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Versão do schema sistema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63040"/>
            <a:ext cx="5486400" cy="457200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Segoe UI"/>
              </a:rPr>
              <a:t>💾  DADOS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659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onsolas"/>
              </a:rPr>
              <a:t>aws-1-us-east-2.pooler.supabase.com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Schemas das empresas (36 tabelas cada)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880360"/>
            <a:ext cx="5029200" cy="621792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880360"/>
            <a:ext cx="18288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onsolas"/>
              </a:rPr>
              <a:t>appa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80360"/>
            <a:ext cx="32004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APPA — 376k eventos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593592"/>
            <a:ext cx="5029200" cy="621792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593592"/>
            <a:ext cx="18288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onsolas"/>
              </a:rPr>
              <a:t>solucoes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93592"/>
            <a:ext cx="32004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SOLUCOES — schema novo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306824"/>
            <a:ext cx="5029200" cy="621792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306824"/>
            <a:ext cx="18288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  <a:latin typeface="Consolas"/>
              </a:rPr>
              <a:t>legado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306824"/>
            <a:ext cx="32004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V1 raw dump (read-only)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5020056"/>
            <a:ext cx="5029200" cy="621792"/>
          </a:xfrm>
          <a:prstGeom prst="round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020056"/>
            <a:ext cx="18288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  <a:latin typeface="Consolas"/>
              </a:rPr>
              <a:t>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020056"/>
            <a:ext cx="32004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Tabelas compartilhadas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Como uma request resolve 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Da tela do usuário até o schema correto, em milissegundos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194560" cy="31089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194560"/>
            <a:ext cx="731520" cy="7315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B1E3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0116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Vue envia request: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Authorization: Bearer &lt;JWT&gt;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X-Empresa-CNPJ: 05969071000110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39212" y="3383280"/>
            <a:ext cx="128016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2011680"/>
            <a:ext cx="2194560" cy="31089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219456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B1E3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/>
              </a:rPr>
              <a:t>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20116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Recebe HTTPS 443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Proxy → 127.0.0.1:8001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170932" y="3383280"/>
            <a:ext cx="128016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03520" y="2011680"/>
            <a:ext cx="2194560" cy="31089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19456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B1E3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Segoe UI"/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520440"/>
            <a:ext cx="20116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Decodifica JWT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Valida user_empresas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Resolve CNPJ →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502652" y="3383280"/>
            <a:ext cx="128016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35240" y="2011680"/>
            <a:ext cx="2194560" cy="31089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19456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B1E3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Segoe UI"/>
              </a:rPr>
              <a:t>POSTGRES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520440"/>
            <a:ext cx="20116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SET search_path TO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  appa, public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Executa query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34372" y="3383280"/>
            <a:ext cx="128016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2011680"/>
            <a:ext cx="2194560" cy="310896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0" y="2194560"/>
            <a:ext cx="731520" cy="7315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B1E3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Segoe UI"/>
              </a:rPr>
              <a:t>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520440"/>
            <a:ext cx="20116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JSON volta isolado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RESET search_path</a:t>
            </a:r>
          </a:p>
          <a:p>
            <a:pPr algn="ctr"/>
            <a:r>
              <a:rPr sz="1100" b="0">
                <a:solidFill>
                  <a:srgbClr val="F1F5F9"/>
                </a:solidFill>
                <a:latin typeface="Segoe UI"/>
              </a:rPr>
              <a:t>Conn devolvida ao pool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49240"/>
            <a:ext cx="11521440" cy="960120"/>
          </a:xfrm>
          <a:prstGeom prst="roundRect">
            <a:avLst/>
          </a:prstGeom>
          <a:solidFill>
            <a:srgbClr val="05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413248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# backend/app/tenant.py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150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onsolas"/>
              </a:rPr>
              <a:t>with empresa_conn(cnpj) as conn:  # SET search_path TO "appa", 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Onboarding de empresa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4 passos — ~30 segundos no 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86400" cy="219456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CRIAR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120640" cy="1051560"/>
          </a:xfrm>
          <a:prstGeom prst="roundRect">
            <a:avLst/>
          </a:prstGeom>
          <a:solidFill>
            <a:srgbClr val="05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CREATE SCHEMA acme_corp;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No Dados DB, via psql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5486400" cy="219456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2️⃣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645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RODAR 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194560"/>
            <a:ext cx="5120640" cy="1051560"/>
          </a:xfrm>
          <a:prstGeom prst="roundRect">
            <a:avLst/>
          </a:prstGeom>
          <a:solidFill>
            <a:srgbClr val="05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python -m app.migrate apply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  --target empresa --version 1.1.0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  --schema acme_corp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Runner cria as 36 tabelas no schema novo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486400" cy="219456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4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3️⃣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233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REGISTRAR EMPRESA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5120640" cy="1051560"/>
          </a:xfrm>
          <a:prstGeom prst="roundRect">
            <a:avLst/>
          </a:prstGeom>
          <a:solidFill>
            <a:srgbClr val="05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INSERT INTO sistema.empresas_routing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  (cnpj, razao_social, schema_name,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   schema_version, ativo)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VALUES (...)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Vincula CNPJ → schema no 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86200"/>
            <a:ext cx="5486400" cy="2194560"/>
          </a:xfrm>
          <a:prstGeom prst="roundRect">
            <a:avLst/>
          </a:prstGeom>
          <a:solidFill>
            <a:srgbClr val="132A4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7764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4️⃣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0233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VINCULAR USUÁRIO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572000"/>
            <a:ext cx="5120640" cy="1051560"/>
          </a:xfrm>
          <a:prstGeom prst="roundRect">
            <a:avLst/>
          </a:prstGeom>
          <a:solidFill>
            <a:srgbClr val="05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617720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INSERT INTO sistema.user_empresas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  (user_id, cnpj, papel)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nsolas"/>
              </a:rPr>
              <a:t>VALUES 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6692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Define quem pode operar a empresa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E se chegarem 10 empresas amanhã?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A arquitetura escala — só roda o script em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Segoe UI"/>
              </a:rPr>
              <a:t>CAPACIDADE DO MODELO ATUAL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772400" cy="502920"/>
          </a:xfrm>
          <a:prstGeom prst="roundRect">
            <a:avLst/>
          </a:prstGeom>
          <a:solidFill>
            <a:srgbClr val="13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5720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57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E3A"/>
                </a:solidFill>
                <a:latin typeface="Segoe UI"/>
              </a:rPr>
              <a:t>Hoje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03120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10312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Cabe folgado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80360"/>
            <a:ext cx="7772400" cy="502920"/>
          </a:xfrm>
          <a:prstGeom prst="roundRect">
            <a:avLst/>
          </a:prstGeom>
          <a:solidFill>
            <a:srgbClr val="13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847898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84789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E3A"/>
                </a:solidFill>
                <a:latin typeface="Segoe UI"/>
              </a:rPr>
              <a:t>+ 10 novas (próx. mês)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0360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803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Sem ajuste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7772400" cy="502920"/>
          </a:xfrm>
          <a:prstGeom prst="roundRect">
            <a:avLst/>
          </a:prstGeom>
          <a:solidFill>
            <a:srgbClr val="13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2261061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226106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E3A"/>
                </a:solidFill>
                <a:latin typeface="Segoe UI"/>
              </a:rPr>
              <a:t>+ 30 (1 ano)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57600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Segoe UI"/>
              </a:rP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65760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Subir pool p/ (5, 50)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7772400" cy="502920"/>
          </a:xfrm>
          <a:prstGeom prst="roundRect">
            <a:avLst/>
          </a:prstGeom>
          <a:solidFill>
            <a:srgbClr val="13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7207134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720713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E3A"/>
                </a:solidFill>
                <a:latin typeface="Segoe UI"/>
              </a:rPr>
              <a:t>+ 100 (futuro)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434840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43484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Pensar em sharding/DB-per-cliente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Segoe UI"/>
              </a:rPr>
              <a:t>CUSTO POR EMPRESA NOVA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97880"/>
            <a:ext cx="2697480" cy="5029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⏱️ Tempo  ~30 segundos de comandos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5897880"/>
            <a:ext cx="2697480" cy="5029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58978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💾 Espaço  ~50 MB inicial (schema vazio)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897880"/>
            <a:ext cx="2697480" cy="5029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8978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💰 Dinheiro  R$ 0 adicional (mesmo banco)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5897880"/>
            <a:ext cx="2697480" cy="5029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58978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👷 Pessoas  1 operador com acesso SSH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Stack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O que está rodando em produção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486400" cy="23317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37160" cy="2331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Frontend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057400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Vue 3 + &lt;script setup&gt;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350008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58568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Vite (build estático)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2642616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55117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Pinia (stores: auth, empresa)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935224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843784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vue-router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322783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13639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Servido pelo nginx em /opt/easy-esocial/frontend-dist/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63040"/>
            <a:ext cx="5486400" cy="23317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137160" cy="2331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5544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Backend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057400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96596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Python 3.12 + venv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2350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258568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FastAPI 0.115.6 + uvicorn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264261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55117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psycopg2-binary + ThreadedConnectionPool(2..20)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293522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843784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JWT HS256 (8h) + bcrypt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227832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13639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Fernet para senhas de certificado A1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3520440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42900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systemd: easy-esocial.service (port 8001)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931920"/>
            <a:ext cx="5486400" cy="23317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3931920"/>
            <a:ext cx="137160" cy="2331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2336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Segoe UI"/>
              </a:rPr>
              <a:t>Banco de dados</a:t>
            </a:r>
          </a:p>
        </p:txBody>
      </p:sp>
      <p:sp>
        <p:nvSpPr>
          <p:cNvPr id="38" name="Oval 37"/>
          <p:cNvSpPr/>
          <p:nvPr/>
        </p:nvSpPr>
        <p:spPr>
          <a:xfrm>
            <a:off x="960120" y="452628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443484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PostgreSQL 15 (Supabase)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" y="481888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727448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Sistema DB: 1 schema (sistema), 5 tabelas</a:t>
            </a:r>
          </a:p>
        </p:txBody>
      </p:sp>
      <p:sp>
        <p:nvSpPr>
          <p:cNvPr id="42" name="Oval 41"/>
          <p:cNvSpPr/>
          <p:nvPr/>
        </p:nvSpPr>
        <p:spPr>
          <a:xfrm>
            <a:off x="960120" y="511149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02005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Dados DB: schemas appa, solucoes (+legado, public)</a:t>
            </a:r>
          </a:p>
        </p:txBody>
      </p:sp>
      <p:sp>
        <p:nvSpPr>
          <p:cNvPr id="44" name="Oval 43"/>
          <p:cNvSpPr/>
          <p:nvPr/>
        </p:nvSpPr>
        <p:spPr>
          <a:xfrm>
            <a:off x="960120" y="5404104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312664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36 tabelas por empresa</a:t>
            </a:r>
          </a:p>
        </p:txBody>
      </p:sp>
      <p:sp>
        <p:nvSpPr>
          <p:cNvPr id="46" name="Oval 45"/>
          <p:cNvSpPr/>
          <p:nvPr/>
        </p:nvSpPr>
        <p:spPr>
          <a:xfrm>
            <a:off x="960120" y="569671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60527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search_path por conexão (multi-tenant lógico)</a:t>
            </a:r>
          </a:p>
        </p:txBody>
      </p:sp>
      <p:sp>
        <p:nvSpPr>
          <p:cNvPr id="48" name="Oval 47"/>
          <p:cNvSpPr/>
          <p:nvPr/>
        </p:nvSpPr>
        <p:spPr>
          <a:xfrm>
            <a:off x="960120" y="598932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89788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Migrations versionadas em backend/migrations/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931920"/>
            <a:ext cx="5486400" cy="2331720"/>
          </a:xfrm>
          <a:prstGeom prst="roundRect">
            <a:avLst/>
          </a:prstGeom>
          <a:solidFill>
            <a:srgbClr val="13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931920"/>
            <a:ext cx="137160" cy="2331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02336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Segoe UI"/>
              </a:rPr>
              <a:t>Infra</a:t>
            </a:r>
          </a:p>
        </p:txBody>
      </p:sp>
      <p:sp>
        <p:nvSpPr>
          <p:cNvPr id="53" name="Oval 52"/>
          <p:cNvSpPr/>
          <p:nvPr/>
        </p:nvSpPr>
        <p:spPr>
          <a:xfrm>
            <a:off x="6720840" y="452628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443484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VPS Hostinger (76.13.169.45)</a:t>
            </a:r>
          </a:p>
        </p:txBody>
      </p:sp>
      <p:sp>
        <p:nvSpPr>
          <p:cNvPr id="55" name="Oval 54"/>
          <p:cNvSpPr/>
          <p:nvPr/>
        </p:nvSpPr>
        <p:spPr>
          <a:xfrm>
            <a:off x="6720840" y="481888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4727448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Ubuntu + nginx (TLS Let's Encrypt)</a:t>
            </a:r>
          </a:p>
        </p:txBody>
      </p:sp>
      <p:sp>
        <p:nvSpPr>
          <p:cNvPr id="57" name="Oval 56"/>
          <p:cNvSpPr/>
          <p:nvPr/>
        </p:nvSpPr>
        <p:spPr>
          <a:xfrm>
            <a:off x="6720840" y="511149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502005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Deploy: GitHub Action SSH → /opt/easy-esocial/repo</a:t>
            </a:r>
          </a:p>
        </p:txBody>
      </p:sp>
      <p:sp>
        <p:nvSpPr>
          <p:cNvPr id="59" name="Oval 58"/>
          <p:cNvSpPr/>
          <p:nvPr/>
        </p:nvSpPr>
        <p:spPr>
          <a:xfrm>
            <a:off x="6720840" y="540410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3720" y="5312664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deploy.sh + systemctl restart (~60s)</a:t>
            </a:r>
          </a:p>
        </p:txBody>
      </p:sp>
      <p:sp>
        <p:nvSpPr>
          <p:cNvPr id="61" name="Oval 60"/>
          <p:cNvSpPr/>
          <p:nvPr/>
        </p:nvSpPr>
        <p:spPr>
          <a:xfrm>
            <a:off x="6720840" y="569671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560527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Segoe UI"/>
              </a:rPr>
              <a:t>Backup manual via pg_dump (a melhorar)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Segoe U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O que ainda falta — e o que protege bem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2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Segoe UI"/>
              </a:rPr>
              <a:t>✅  O QUE JÁ ESTÁ SÓLIDO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12140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Routing dinâmico por CNPJ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3288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Migrations idempotentes versionadas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94436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JWT + bcrypt + Fernet em certificados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35584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RESET search_path em todo finally do pool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76732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Audit log de ações sensíveis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17880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Deploy automatizado via GitHub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⚠️  PRÓXIMAS MELHORIAS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12140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0116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UI no admin para cadastrar empresa (hoje é SQL)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53288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4231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Endpoint POST /api/admin/users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94436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834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RLS (Row Level Security) no Dados DB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35584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2461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Health check periódico no pool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376732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65760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Retenção/rotação de audit_log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17880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0690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Dashboard: requests/conexões por empresa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59028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4805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Backup automatizado por schema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486400"/>
            <a:ext cx="10972800" cy="7772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Segoe UI"/>
              </a:rPr>
              <a:t>📌 PRINCÍPIO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Hoje a arquitetura aguenta dezenas de empresas. Migração para DB-per-empresa só faz sentido quando um cliente passar de 5GB ou exigir isolamento físico contratual.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Easy-eSocial V2 — Arquitetura Multi-Tenant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457200"/>
            <a:ext cx="2743200" cy="2743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"/>
            <a:ext cx="2468880" cy="2468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91439"/>
            <a:ext cx="2194560" cy="21945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65759"/>
            <a:ext cx="1920240" cy="19202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640080"/>
            <a:ext cx="1645920" cy="1645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914400"/>
            <a:ext cx="1371600" cy="1371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Segoe UI"/>
              </a:rPr>
              <a:t>EM RESUMO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10058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1F5F9"/>
                </a:solidFill>
                <a:latin typeface="Segoe UI"/>
              </a:rPr>
              <a:t>1 backend, 2 Supabase,</a:t>
            </a:r>
          </a:p>
          <a:p>
            <a:pPr algn="l"/>
            <a:r>
              <a:rPr sz="4200" b="1">
                <a:solidFill>
                  <a:srgbClr val="F1F5F9"/>
                </a:solidFill>
                <a:latin typeface="Segoe UI"/>
              </a:rPr>
              <a:t>N empresas — sem 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Segoe UI"/>
              </a:rPr>
              <a:t>📦  2 empresas hoje (APPA + SOLUCOES) — modelo já provado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Segoe UI"/>
              </a:rPr>
              <a:t>🏢  Schema-per-empresa: barato, escalável, simples de operar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74336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Segoe UI"/>
              </a:rPr>
              <a:t>🚀  Onboarding em 4 passos, ~30s — só falta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5838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Segoe UI"/>
              </a:rPr>
              <a:t>📈  Capacidade folgada para dezenas de novas empresas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Easy-eSocial V2  •  Maio/2026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